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945"/>
          </a:solidFill>
          <a:ln w="12700">
            <a:solidFill>
              <a:srgbClr val="0E29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13232"/>
            <a:ext cx="3840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B23C"/>
                </a:solidFill>
              </a:rPr>
              <a:t>Cirugía / Gastroenterología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078992"/>
            <a:ext cx="98755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E29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Colon, coledocolitiasis y cáncer colorrectal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1956816"/>
            <a:ext cx="7040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3"/>
                </a:solidFill>
              </a:rPr>
              <a:t>Resumen editable para PPT: un tema por diapositiva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2889504"/>
            <a:ext cx="2286000" cy="1143000"/>
          </a:xfrm>
          <a:prstGeom prst="rect">
            <a:avLst/>
          </a:prstGeom>
          <a:solidFill>
            <a:srgbClr val="EAF3F9"/>
          </a:solidFill>
          <a:ln w="8890">
            <a:solidFill>
              <a:srgbClr val="BCD7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Signo de Infante Díaz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19272" y="2889504"/>
            <a:ext cx="2286000" cy="1143000"/>
          </a:xfrm>
          <a:prstGeom prst="rect">
            <a:avLst/>
          </a:prstGeom>
          <a:solidFill>
            <a:srgbClr val="EAF7F1"/>
          </a:solidFill>
          <a:ln w="8890">
            <a:solidFill>
              <a:srgbClr val="B8E4C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Neoplasias del colon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79592" y="2889504"/>
            <a:ext cx="2286000" cy="1143000"/>
          </a:xfrm>
          <a:prstGeom prst="rect">
            <a:avLst/>
          </a:prstGeom>
          <a:solidFill>
            <a:srgbClr val="FFF2D9"/>
          </a:solidFill>
          <a:ln w="8890">
            <a:solidFill>
              <a:srgbClr val="F8DCA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CPRE y coledocolitiasis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39912" y="2889504"/>
            <a:ext cx="2468880" cy="1143000"/>
          </a:xfrm>
          <a:prstGeom prst="rect">
            <a:avLst/>
          </a:prstGeom>
          <a:solidFill>
            <a:srgbClr val="FCECEC"/>
          </a:solidFill>
          <a:ln w="8890">
            <a:solidFill>
              <a:srgbClr val="F2B8B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Aumento del CCR temprano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5989320"/>
            <a:ext cx="48463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E6B78"/>
                </a:solidFill>
              </a:rPr>
              <a:t>WAJOMEA.GROUP · BADBEAR.MED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945"/>
          </a:solidFill>
          <a:ln w="12700">
            <a:solidFill>
              <a:srgbClr val="0E29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869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E29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Signo de Infante Díaz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E6B78"/>
                </a:solidFill>
              </a:rPr>
              <a:t>Maniobra clínica para sospecha de irritación peritoneal; equivalente práctico al “heel-drop / Markle test”.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621792" y="1325880"/>
            <a:ext cx="2029968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Paciente de pie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eleva en puntas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24912" y="1673352"/>
            <a:ext cx="493776" cy="0"/>
          </a:xfrm>
          <a:prstGeom prst="line">
            <a:avLst/>
          </a:prstGeom>
          <a:noFill/>
          <a:ln w="15240">
            <a:solidFill>
              <a:srgbClr val="F3B23C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310128" y="1325880"/>
            <a:ext cx="2048256" cy="694944"/>
          </a:xfrm>
          <a:prstGeom prst="rect">
            <a:avLst/>
          </a:prstGeom>
          <a:solidFill>
            <a:srgbClr val="FFF7E8"/>
          </a:solidFill>
          <a:ln w="8890">
            <a:solidFill>
              <a:srgbClr val="F3D7A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Cae sobre talones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 brusco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40680" y="1673352"/>
            <a:ext cx="493776" cy="0"/>
          </a:xfrm>
          <a:prstGeom prst="line">
            <a:avLst/>
          </a:prstGeom>
          <a:noFill/>
          <a:ln w="15240">
            <a:solidFill>
              <a:srgbClr val="F3B23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035040" y="1325880"/>
            <a:ext cx="2157984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Vibración abdominal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moviliza peritoneo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75320" y="1673352"/>
            <a:ext cx="484632" cy="0"/>
          </a:xfrm>
          <a:prstGeom prst="line">
            <a:avLst/>
          </a:prstGeom>
          <a:noFill/>
          <a:ln w="15240">
            <a:solidFill>
              <a:srgbClr val="F3B23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851392" y="1325880"/>
            <a:ext cx="2084832" cy="694944"/>
          </a:xfrm>
          <a:prstGeom prst="rect">
            <a:avLst/>
          </a:prstGeom>
          <a:solidFill>
            <a:srgbClr val="FCECEC"/>
          </a:solidFill>
          <a:ln w="8890">
            <a:solidFill>
              <a:srgbClr val="F1B8B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Dolor = positivo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peritonismo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945"/>
                </a:solidFill>
              </a:rPr>
              <a:t>Interpretación clínica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13232" y="2971800"/>
            <a:ext cx="4754880" cy="12984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333"/>
                </a:solidFill>
              </a:rPr>
              <a:t>• Positivo si el dolor aparece o aumenta al caer sobre los talones.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333"/>
                </a:solidFill>
              </a:rPr>
              <a:t>• Traduce irritación del peritoneo parietal; no es patognomónico.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333"/>
                </a:solidFill>
              </a:rPr>
              <a:t>• Si el dolor se localiza en fosa ilíaca derecha, apoya apendicitis aguda.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08192" y="2606040"/>
            <a:ext cx="5285232" cy="1783080"/>
          </a:xfrm>
          <a:prstGeom prst="rect">
            <a:avLst/>
          </a:prstGeom>
          <a:solidFill>
            <a:srgbClr val="EAF3F9"/>
          </a:solidFill>
          <a:ln w="8890">
            <a:solidFill>
              <a:srgbClr val="C1DD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Diferencial de signos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Blumberg: descompresión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Rovsing: presión izquierda → dolor derecho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Psoas/obturador: irritación muscular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Infante Díaz/Markle: vibración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04672" y="5102352"/>
            <a:ext cx="10716768" cy="713232"/>
          </a:xfrm>
          <a:prstGeom prst="rect">
            <a:avLst/>
          </a:prstGeom>
          <a:solidFill>
            <a:srgbClr val="0E2945"/>
          </a:solidFill>
          <a:ln w="8890">
            <a:solidFill>
              <a:srgbClr val="0E2945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BADBEAR.MED FIJA:</a:t>
            </a:r>
            <a:endParaRPr lang="en-US" sz="1260" dirty="0"/>
          </a:p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Dolor por caída sobre talones = irritación peritoneal. En FID orienta a apendicitis, pero siempre se correlaciona con clínica, laboratorio e imagen.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502920" y="6537960"/>
            <a:ext cx="112014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E6B78"/>
                </a:solidFill>
              </a:rPr>
              <a:t>BADBEAR.MED  |  Referencia conceptual: semiología abdominal; heel-drop / Markle test.</a:t>
            </a:r>
            <a:endParaRPr lang="en-US" sz="6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945"/>
          </a:solidFill>
          <a:ln w="12700">
            <a:solidFill>
              <a:srgbClr val="0E29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869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E29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Neoplasias por segmento del colon y tratamiento por zonas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E6B78"/>
                </a:solidFill>
              </a:rPr>
              <a:t>La neoplasia maligna predominante es el adenocarcinoma; la cirugía sigue el drenaje linfovascular.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713232" y="1207008"/>
            <a:ext cx="237744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825E"/>
                </a:solidFill>
              </a:rPr>
              <a:t>Colon derecho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1207008" cy="420624"/>
          </a:xfrm>
          <a:prstGeom prst="rect">
            <a:avLst/>
          </a:prstGeom>
          <a:solidFill>
            <a:srgbClr val="EAF7F1"/>
          </a:solidFill>
          <a:ln w="8890">
            <a:solidFill>
              <a:srgbClr val="B5E0C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Ciego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2157984"/>
            <a:ext cx="1207008" cy="420624"/>
          </a:xfrm>
          <a:prstGeom prst="rect">
            <a:avLst/>
          </a:prstGeom>
          <a:solidFill>
            <a:srgbClr val="EAF7F1"/>
          </a:solidFill>
          <a:ln w="8890">
            <a:solidFill>
              <a:srgbClr val="B5E0C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Ascendente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2688336"/>
            <a:ext cx="1207008" cy="420624"/>
          </a:xfrm>
          <a:prstGeom prst="rect">
            <a:avLst/>
          </a:prstGeom>
          <a:solidFill>
            <a:srgbClr val="EAF7F1"/>
          </a:solidFill>
          <a:ln w="8890">
            <a:solidFill>
              <a:srgbClr val="B5E0C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Ángulo hepático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2212848" y="1664208"/>
            <a:ext cx="2139696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Adenocarcinoma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exofítico/polipoide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Anemia ferropénica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2212848" y="3246120"/>
            <a:ext cx="2139696" cy="658368"/>
          </a:xfrm>
          <a:prstGeom prst="rect">
            <a:avLst/>
          </a:prstGeom>
          <a:solidFill>
            <a:srgbClr val="20825E"/>
          </a:solidFill>
          <a:ln w="8890">
            <a:solidFill>
              <a:srgbClr val="2082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Hemicolectomía derecha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± derecha extendida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4700016" y="1207008"/>
            <a:ext cx="24688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B23C"/>
                </a:solidFill>
              </a:rPr>
              <a:t>Colon transverso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36592" y="1783080"/>
            <a:ext cx="1572768" cy="475488"/>
          </a:xfrm>
          <a:prstGeom prst="rect">
            <a:avLst/>
          </a:prstGeom>
          <a:solidFill>
            <a:srgbClr val="FFF2D9"/>
          </a:solidFill>
          <a:ln w="8890">
            <a:solidFill>
              <a:srgbClr val="F2D3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Transverso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45152" y="2514600"/>
            <a:ext cx="2340864" cy="896112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Adenocarcinoma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clínica variable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Obstrucción o anemia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4645152" y="3675888"/>
            <a:ext cx="2340864" cy="713232"/>
          </a:xfrm>
          <a:prstGeom prst="rect">
            <a:avLst/>
          </a:prstGeom>
          <a:solidFill>
            <a:srgbClr val="F3B23C"/>
          </a:solidFill>
          <a:ln w="8890">
            <a:solidFill>
              <a:srgbClr val="F3B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Resección segmentaria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extendida según vasos/ganglios</a:t>
            </a:r>
            <a:endParaRPr lang="en-US" sz="1090" dirty="0"/>
          </a:p>
        </p:txBody>
      </p:sp>
      <p:sp>
        <p:nvSpPr>
          <p:cNvPr id="16" name="Text 14"/>
          <p:cNvSpPr/>
          <p:nvPr/>
        </p:nvSpPr>
        <p:spPr>
          <a:xfrm>
            <a:off x="7424928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3537"/>
                </a:solidFill>
              </a:rPr>
              <a:t>Colon izquierdo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06640" y="1627632"/>
            <a:ext cx="1463040" cy="420624"/>
          </a:xfrm>
          <a:prstGeom prst="rect">
            <a:avLst/>
          </a:prstGeom>
          <a:solidFill>
            <a:srgbClr val="FCECEC"/>
          </a:solidFill>
          <a:ln w="8890">
            <a:solidFill>
              <a:srgbClr val="F2C6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Descendente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06640" y="2157984"/>
            <a:ext cx="1463040" cy="420624"/>
          </a:xfrm>
          <a:prstGeom prst="rect">
            <a:avLst/>
          </a:prstGeom>
          <a:solidFill>
            <a:srgbClr val="FCECEC"/>
          </a:solidFill>
          <a:ln w="8890">
            <a:solidFill>
              <a:srgbClr val="F2C6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Sigmoides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06640" y="2688336"/>
            <a:ext cx="1463040" cy="420624"/>
          </a:xfrm>
          <a:prstGeom prst="rect">
            <a:avLst/>
          </a:prstGeom>
          <a:solidFill>
            <a:srgbClr val="FCECEC"/>
          </a:solidFill>
          <a:ln w="8890">
            <a:solidFill>
              <a:srgbClr val="F2C6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Recto*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89720" y="1664208"/>
            <a:ext cx="2231136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Adenocarcinoma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anular/estenósico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hábito + obstrucción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9189720" y="3246120"/>
            <a:ext cx="2231136" cy="822960"/>
          </a:xfrm>
          <a:prstGeom prst="rect">
            <a:avLst/>
          </a:prstGeom>
          <a:solidFill>
            <a:srgbClr val="A73537"/>
          </a:solidFill>
          <a:ln w="8890">
            <a:solidFill>
              <a:srgbClr val="A7353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Hemicolectomía izquierda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Sigmoidectomía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Recto: manejo propio</a:t>
            </a:r>
            <a:endParaRPr lang="en-US" sz="1090" dirty="0"/>
          </a:p>
        </p:txBody>
      </p:sp>
      <p:sp>
        <p:nvSpPr>
          <p:cNvPr id="22" name="Text 20"/>
          <p:cNvSpPr/>
          <p:nvPr/>
        </p:nvSpPr>
        <p:spPr>
          <a:xfrm>
            <a:off x="749808" y="5029200"/>
            <a:ext cx="10771632" cy="658368"/>
          </a:xfrm>
          <a:prstGeom prst="rect">
            <a:avLst/>
          </a:prstGeom>
          <a:solidFill>
            <a:srgbClr val="0E2945"/>
          </a:solidFill>
          <a:ln w="8890">
            <a:solidFill>
              <a:srgbClr val="0E294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oncológica: no se saca solo el tumor. Se reseca segmento + mesocolon + vasos + ganglios regionales. Meta de estadificación: ≥12 ganglios cuando sea posible.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537960"/>
            <a:ext cx="112014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E6B78"/>
                </a:solidFill>
              </a:rPr>
              <a:t>BADBEAR.MED  |  Guías: ASCRS colon cancer CPG; NCI colorectal cancer treatment PDQ. *Recto no se maneja igual que colon.</a:t>
            </a:r>
            <a:endParaRPr lang="en-US" sz="6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945"/>
          </a:solidFill>
          <a:ln w="12700">
            <a:solidFill>
              <a:srgbClr val="0E29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869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E29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Coledocolitiasis: formas endoscópicas de extracción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E6B78"/>
                </a:solidFill>
              </a:rPr>
              <a:t>El procedimiento base es la CPRE; la técnica depende del tamaño, número, impactación y anatomía.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1645920" cy="566928"/>
          </a:xfrm>
          <a:prstGeom prst="rect">
            <a:avLst/>
          </a:prstGeom>
          <a:solidFill>
            <a:srgbClr val="0E2945"/>
          </a:solidFill>
          <a:ln w="8890">
            <a:solidFill>
              <a:srgbClr val="0E29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canular papila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50592" y="1517904"/>
            <a:ext cx="429768" cy="0"/>
          </a:xfrm>
          <a:prstGeom prst="line">
            <a:avLst/>
          </a:prstGeom>
          <a:noFill/>
          <a:ln w="15240">
            <a:solidFill>
              <a:srgbClr val="F3B23C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971800" y="1234440"/>
            <a:ext cx="1737360" cy="566928"/>
          </a:xfrm>
          <a:prstGeom prst="rect">
            <a:avLst/>
          </a:prstGeom>
          <a:solidFill>
            <a:srgbClr val="EAF3F9"/>
          </a:solidFill>
          <a:ln w="8890">
            <a:solidFill>
              <a:srgbClr val="B9D8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Esfinterotomía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endoscópica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4800600" y="1517904"/>
            <a:ext cx="429768" cy="0"/>
          </a:xfrm>
          <a:prstGeom prst="line">
            <a:avLst/>
          </a:prstGeom>
          <a:noFill/>
          <a:ln w="15240">
            <a:solidFill>
              <a:srgbClr val="F3B23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321808" y="1234440"/>
            <a:ext cx="1682496" cy="566928"/>
          </a:xfrm>
          <a:prstGeom prst="rect">
            <a:avLst/>
          </a:prstGeom>
          <a:solidFill>
            <a:srgbClr val="FFF7E8"/>
          </a:solidFill>
          <a:ln w="8890">
            <a:solidFill>
              <a:srgbClr val="F3D7A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Extracción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según cálculo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68096" y="2331720"/>
            <a:ext cx="2414016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Balón extractor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“barrido” del colédoco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3493008" y="2331720"/>
            <a:ext cx="2414016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Canastilla Dormia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 y tracción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6217920" y="2331720"/>
            <a:ext cx="2414016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Dilatación papilar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balón grande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8942832" y="2331720"/>
            <a:ext cx="2414016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Litotricia mecánica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fragmenta cálculo grande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768096" y="3566160"/>
            <a:ext cx="2414016" cy="713232"/>
          </a:xfrm>
          <a:prstGeom prst="rect">
            <a:avLst/>
          </a:prstGeom>
          <a:solidFill>
            <a:srgbClr val="EAF7F1"/>
          </a:solidFill>
          <a:ln w="8890">
            <a:solidFill>
              <a:srgbClr val="B5E0C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Colangioscopia + EHL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ondas de choque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3493008" y="3566160"/>
            <a:ext cx="2414016" cy="713232"/>
          </a:xfrm>
          <a:prstGeom prst="rect">
            <a:avLst/>
          </a:prstGeom>
          <a:solidFill>
            <a:srgbClr val="EAF7F1"/>
          </a:solidFill>
          <a:ln w="8890">
            <a:solidFill>
              <a:srgbClr val="B5E0C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Colangioscopia + láser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cálculo difícil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6217920" y="3566160"/>
            <a:ext cx="2414016" cy="713232"/>
          </a:xfrm>
          <a:prstGeom prst="rect">
            <a:avLst/>
          </a:prstGeom>
          <a:solidFill>
            <a:srgbClr val="FCECEC"/>
          </a:solidFill>
          <a:ln w="8890">
            <a:solidFill>
              <a:srgbClr val="F2C6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Stent biliar temporal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drena y reintenta CPRE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8942832" y="3566160"/>
            <a:ext cx="2414016" cy="713232"/>
          </a:xfrm>
          <a:prstGeom prst="rect">
            <a:avLst/>
          </a:prstGeom>
          <a:solidFill>
            <a:srgbClr val="F1EEF9"/>
          </a:solidFill>
          <a:ln w="8890">
            <a:solidFill>
              <a:srgbClr val="CCC2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Combinadas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según experiencia y recursos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768096" y="5074920"/>
            <a:ext cx="10588752" cy="749808"/>
          </a:xfrm>
          <a:prstGeom prst="rect">
            <a:avLst/>
          </a:prstGeom>
          <a:solidFill>
            <a:srgbClr val="0E2945"/>
          </a:solidFill>
          <a:ln w="8890">
            <a:solidFill>
              <a:srgbClr val="0E2945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BADBEAR.MED FIJA: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→ esfinterotomía + balón/canastilla. Grande → dilatación papilar ± litotricia. Difícil → colangioscopia + EHL/láser. Si no sale → stent y nueva sesión.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502920" y="6537960"/>
            <a:ext cx="112014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E6B78"/>
                </a:solidFill>
              </a:rPr>
              <a:t>BADBEAR.MED  |  Guía: ASGE role of endoscopy in choledocholithiasis; ERCP therapeutic techniques.</a:t>
            </a:r>
            <a:endParaRPr lang="en-US" sz="6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945"/>
          </a:solidFill>
          <a:ln w="12700">
            <a:solidFill>
              <a:srgbClr val="0E29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869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E29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¿Por qué aumentan las tumoraciones/cáncer colorrectal?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E6B78"/>
                </a:solidFill>
              </a:rPr>
              <a:t>Fenómeno especialmente discutido en cáncer colorrectal de aparición temprana: &lt;50 años. No hay una causa única.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713232" y="1261872"/>
            <a:ext cx="2377440" cy="685800"/>
          </a:xfrm>
          <a:prstGeom prst="rect">
            <a:avLst/>
          </a:prstGeom>
          <a:solidFill>
            <a:srgbClr val="FFF7E8"/>
          </a:solidFill>
          <a:ln w="8890">
            <a:solidFill>
              <a:srgbClr val="F1D3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Dieta occidental</a:t>
            </a:r>
            <a:endParaRPr lang="en-US" sz="1090" dirty="0"/>
          </a:p>
          <a:p>
            <a:pPr algn="l" indent="0" marL="0">
              <a:buNone/>
            </a:pPr>
            <a:r>
              <a:rPr lang="en-US" sz="109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ultraprocesados, carnes procesadas, baja fibra</a:t>
            </a:r>
            <a:endParaRPr lang="en-US" sz="1090" dirty="0"/>
          </a:p>
        </p:txBody>
      </p:sp>
      <p:sp>
        <p:nvSpPr>
          <p:cNvPr id="7" name="Text 5"/>
          <p:cNvSpPr/>
          <p:nvPr/>
        </p:nvSpPr>
        <p:spPr>
          <a:xfrm>
            <a:off x="3456432" y="1261872"/>
            <a:ext cx="2487168" cy="685800"/>
          </a:xfrm>
          <a:prstGeom prst="rect">
            <a:avLst/>
          </a:prstGeom>
          <a:solidFill>
            <a:srgbClr val="FCECEC"/>
          </a:solidFill>
          <a:ln w="8890">
            <a:solidFill>
              <a:srgbClr val="F2C6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Obesidad / síndrome metabólico</a:t>
            </a:r>
            <a:endParaRPr lang="en-US" sz="1090" dirty="0"/>
          </a:p>
          <a:p>
            <a:pPr algn="l" indent="0" marL="0">
              <a:buNone/>
            </a:pPr>
            <a:r>
              <a:rPr lang="en-US" sz="109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insulina, IGF-1, inflamación crónica</a:t>
            </a:r>
            <a:endParaRPr lang="en-US" sz="1090" dirty="0"/>
          </a:p>
        </p:txBody>
      </p:sp>
      <p:sp>
        <p:nvSpPr>
          <p:cNvPr id="8" name="Text 6"/>
          <p:cNvSpPr/>
          <p:nvPr/>
        </p:nvSpPr>
        <p:spPr>
          <a:xfrm>
            <a:off x="6291072" y="1261872"/>
            <a:ext cx="2231136" cy="685800"/>
          </a:xfrm>
          <a:prstGeom prst="rect">
            <a:avLst/>
          </a:prstGeom>
          <a:solidFill>
            <a:srgbClr val="EAF3F9"/>
          </a:solidFill>
          <a:ln w="8890">
            <a:solidFill>
              <a:srgbClr val="B9D8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Sedentarismo</a:t>
            </a:r>
            <a:endParaRPr lang="en-US" sz="1090" dirty="0"/>
          </a:p>
          <a:p>
            <a:pPr algn="l" indent="0" marL="0">
              <a:buNone/>
            </a:pPr>
            <a:r>
              <a:rPr lang="en-US" sz="109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gasto energético y peor metabolismo</a:t>
            </a:r>
            <a:endParaRPr lang="en-US" sz="1090" dirty="0"/>
          </a:p>
        </p:txBody>
      </p:sp>
      <p:sp>
        <p:nvSpPr>
          <p:cNvPr id="9" name="Text 7"/>
          <p:cNvSpPr/>
          <p:nvPr/>
        </p:nvSpPr>
        <p:spPr>
          <a:xfrm>
            <a:off x="8887968" y="1261872"/>
            <a:ext cx="2432304" cy="685800"/>
          </a:xfrm>
          <a:prstGeom prst="rect">
            <a:avLst/>
          </a:prstGeom>
          <a:solidFill>
            <a:srgbClr val="EAF7F1"/>
          </a:solidFill>
          <a:ln w="8890">
            <a:solidFill>
              <a:srgbClr val="B5E0C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Microbiota / disbiosis</a:t>
            </a:r>
            <a:endParaRPr lang="en-US" sz="1090" dirty="0"/>
          </a:p>
          <a:p>
            <a:pPr algn="l" indent="0" marL="0">
              <a:buNone/>
            </a:pPr>
            <a:r>
              <a:rPr lang="en-US" sz="1090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metabolitos, inflamación, daño epitelial</a:t>
            </a:r>
            <a:endParaRPr lang="en-US" sz="1090" dirty="0"/>
          </a:p>
        </p:txBody>
      </p:sp>
      <p:sp>
        <p:nvSpPr>
          <p:cNvPr id="10" name="Text 8"/>
          <p:cNvSpPr/>
          <p:nvPr/>
        </p:nvSpPr>
        <p:spPr>
          <a:xfrm>
            <a:off x="4059936" y="2788920"/>
            <a:ext cx="3840480" cy="1078992"/>
          </a:xfrm>
          <a:prstGeom prst="rect">
            <a:avLst/>
          </a:prstGeom>
          <a:solidFill>
            <a:srgbClr val="0E2945"/>
          </a:solidFill>
          <a:ln w="8890">
            <a:solidFill>
              <a:srgbClr val="0E294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Ambiente + metabolismo + microbiota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Inflamación crónica y daño molecular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Adenoma → carcinoma / vía serrada / MSI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786384" y="4315968"/>
            <a:ext cx="457200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945"/>
                </a:solidFill>
              </a:rPr>
              <a:t>Factores adicionales que debes mencionar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4617720"/>
            <a:ext cx="5486400" cy="10607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333"/>
                </a:solidFill>
              </a:rPr>
              <a:t>• Alcohol y tabaco: riesgo acumulativo.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62333"/>
                </a:solidFill>
              </a:rPr>
              <a:t>• Antibióticos: asociación investigada por efecto sobre microbiota; no afirmar causalidad directa.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62333"/>
                </a:solidFill>
              </a:rPr>
              <a:t>• Genética: Lynch, APC/FAP; explican una parte, no todo el aumento.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62333"/>
                </a:solidFill>
              </a:rPr>
              <a:t>• Tamizaje bajo en jóvenes: síntomas se atribuyen tarde a causas benignas.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720840" y="4407408"/>
            <a:ext cx="4526280" cy="1225296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de examen:</a:t>
            </a:r>
            <a:endParaRPr lang="en-US" sz="1210" dirty="0"/>
          </a:p>
          <a:p>
            <a:pPr algn="l" indent="0" marL="0">
              <a:buNone/>
            </a:pPr>
            <a:r>
              <a:rPr lang="en-US" sz="1210" b="1" dirty="0">
                <a:solidFill>
                  <a:srgbClr val="162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aumento reciente se entiende como multifactorial, con peso de obesidad, dieta, metabolismo, microbiota, ambiente y detección tardía. No decir “una sola causa”.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502920" y="6537960"/>
            <a:ext cx="112014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E6B78"/>
                </a:solidFill>
              </a:rPr>
              <a:t>BADBEAR.MED  |  Fuentes guía: IARC/WHO sobre CCR temprano; revisiones recientes de early-onset colorectal cancer; NCI PDQ.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WAJOMEA.GROUP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Temas quirúrgicos: colon, coledocolitiasis y cáncer colorrectal</dc:title>
  <dc:subject>Cirugía y Gastroenterología</dc:subject>
  <dc:creator>BADBEAR.MED / WAJOMEA.GROUP</dc:creator>
  <cp:lastModifiedBy>BADBEAR.MED / WAJOMEA.GROUP</cp:lastModifiedBy>
  <cp:revision>1</cp:revision>
  <dcterms:created xsi:type="dcterms:W3CDTF">2026-10-01T05:12:03Z</dcterms:created>
  <dcterms:modified xsi:type="dcterms:W3CDTF">2026-10-01T05:12:03Z</dcterms:modified>
</cp:coreProperties>
</file>